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 Title · white cover, orange interiors</a:t>
            </a:r>
          </a:p>
          <a:p>
            <a:endParaRPr/>
          </a:p>
          <a:p>
            <a:r>
              <a:t>Pick the cover colour and every interior slide takes the opposite. Headline makes one claim, sentence case, no em dashes.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 Agenda · white cover, orange interiors</a:t>
            </a:r>
          </a:p>
          <a:p>
            <a:endParaRPr/>
          </a:p>
          <a:p>
            <a:r>
              <a:t>Four to six sections. Each line: the section title, then one line on what it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03 Section break · white cover, orange interiors</a:t>
            </a:r>
          </a:p>
          <a:p>
            <a:endParaRPr/>
          </a:p>
          <a:p>
            <a:r>
              <a:t>Full-bleed image ground. Sits outside the white/orange contrast rule, drop it between major sections of any deck. Keep all copy in one corner over the scrim.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 Divider · white cover, orange interiors</a:t>
            </a:r>
          </a:p>
          <a:p>
            <a:endParaRPr/>
          </a:p>
          <a:p>
            <a:r>
              <a:t>Numbered section divider. Use when the deck has clear numbered sections and a full-bleed break would be too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05 Content, bullets · white cover, orange interiors</a:t>
            </a:r>
          </a:p>
          <a:p>
            <a:endParaRPr/>
          </a:p>
          <a:p>
            <a:r>
              <a:t>The workhorse slide. Five bullets maximum,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06 Split + product · white cover, orange interiors</a:t>
            </a:r>
          </a:p>
          <a:p>
            <a:endParaRPr/>
          </a:p>
          <a:p>
            <a:r>
              <a:t>Product screens are recreated as clean mock rows, never a screenshot of stock art. The UI always rides a white card so no mark sits on the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07 Stat · white cover, orange interiors</a:t>
            </a:r>
          </a:p>
          <a:p>
            <a:endParaRPr/>
          </a:p>
          <a:p>
            <a:r>
              <a:t>One number, one meaning, one source. Use a real number from a real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08 Metrics grid · white cover, orange interiors</a:t>
            </a:r>
          </a:p>
          <a:p>
            <a:endParaRPr/>
          </a:p>
          <a:p>
            <a:r>
              <a:t>Three numbers, never more. Each one gets a rule above it and one line of meaning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 Chart · white cover, orange interiors</a:t>
            </a:r>
          </a:p>
          <a:p>
            <a:endParaRPr/>
          </a:p>
          <a:p>
            <a:r>
              <a:t>Emphasis ladder, never a rainbow: focus #FD5000 for one series, #191919 comparison, #7A7268 context, #E7E0D6 field. Direct-label every series. On an orange slide the chart rides a white card so no mark sits on the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Comparison · white cover, orange interiors</a:t>
            </a:r>
          </a:p>
          <a:p>
            <a:endParaRPr/>
          </a:p>
          <a:p>
            <a:r>
              <a:t>Before on the muted panel, after on the highlighted card, so the eye lands on the after. Same number of lines each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 Timeline · white cover, orange interiors</a:t>
            </a:r>
          </a:p>
          <a:p>
            <a:endParaRPr/>
          </a:p>
          <a:p>
            <a:r>
              <a:t>Four milestones maximum. The last dot is filled to mark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Two-column · white cover, orange interiors</a:t>
            </a:r>
          </a:p>
          <a:p>
            <a:endParaRPr/>
          </a:p>
          <a:p>
            <a:r>
              <a:t>Two headings, two short paragraphs. Keep both columns a similar length so the slide stays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 Quote · white cover, orange interiors</a:t>
            </a:r>
          </a:p>
          <a:p>
            <a:endParaRPr/>
          </a:p>
          <a:p>
            <a:r>
              <a:t>The customer's own words, unedited. Two lines at most so it stays quotable. Real name,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 Logo wall · white cover, orange interiors</a:t>
            </a:r>
          </a:p>
          <a:p>
            <a:endParaRPr/>
          </a:p>
          <a:p>
            <a:r>
              <a:t>Customer marks on white tiles so each one keeps its own colour. Equal optical height, never recoloured.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Team · white cover, orange interiors</a:t>
            </a:r>
          </a:p>
          <a:p>
            <a:endParaRPr/>
          </a:p>
          <a:p>
            <a:r>
              <a:t>Drop a headshot into each placeholder. Square crop, same crop on every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16 Zuper Sense (dark) · white cover, orange interiors</a:t>
            </a:r>
          </a:p>
          <a:p>
            <a:endParaRPr/>
          </a:p>
          <a:p>
            <a:r>
              <a:t>Dark is reserved for Zuper Sense, never anything else. Orange-on-dark is #FF8B5A.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17 Zuper Glass · white cover, orange interiors</a:t>
            </a:r>
          </a:p>
          <a:p>
            <a:endParaRPr/>
          </a:p>
          <a:p>
            <a:r>
              <a:t>Reserved for Zuper Glass. All copy stays in the left column over the scrim so it never overlaps the glasses.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 Closing · white cover, orange interiors</a:t>
            </a:r>
          </a:p>
          <a:p>
            <a:endParaRPr/>
          </a:p>
          <a:p>
            <a:r>
              <a:t>Closes on the cover colour. One ask, then the concrete next steps with owners and dates when you have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 Title · orange cover, white interiors</a:t>
            </a:r>
          </a:p>
          <a:p>
            <a:endParaRPr/>
          </a:p>
          <a:p>
            <a:r>
              <a:t>Pick the cover colour and every interior slide takes the opposite. Headline makes one claim, sentence case, no em dashes.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 Agenda · orange cover, white interiors</a:t>
            </a:r>
          </a:p>
          <a:p>
            <a:endParaRPr/>
          </a:p>
          <a:p>
            <a:r>
              <a:t>Four to six sections. Each line: the section title, then one line on what it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03 Section break · orange cover, white interiors</a:t>
            </a:r>
          </a:p>
          <a:p>
            <a:endParaRPr/>
          </a:p>
          <a:p>
            <a:r>
              <a:t>Full-bleed image ground. Sits outside the white/orange contrast rule, drop it between major sections of any deck. Keep all copy in one corner over the scrim.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 Divider · orange cover, white interiors</a:t>
            </a:r>
          </a:p>
          <a:p>
            <a:endParaRPr/>
          </a:p>
          <a:p>
            <a:r>
              <a:t>Numbered section divider. Use when the deck has clear numbered sections and a full-bleed break would be too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05 Content, bullets · orange cover, white interiors</a:t>
            </a:r>
          </a:p>
          <a:p>
            <a:endParaRPr/>
          </a:p>
          <a:p>
            <a:r>
              <a:t>The workhorse slide. Five bullets maximum,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06 Split + product · orange cover, white interiors</a:t>
            </a:r>
          </a:p>
          <a:p>
            <a:endParaRPr/>
          </a:p>
          <a:p>
            <a:r>
              <a:t>Product screens are recreated as clean mock rows, never a screenshot of stock art. The UI always rides a white card so no mark sits on the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07 Stat · orange cover, white interiors</a:t>
            </a:r>
          </a:p>
          <a:p>
            <a:endParaRPr/>
          </a:p>
          <a:p>
            <a:r>
              <a:t>One number, one meaning, one source. Use a real number from a real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08 Metrics grid · orange cover, white interiors</a:t>
            </a:r>
          </a:p>
          <a:p>
            <a:endParaRPr/>
          </a:p>
          <a:p>
            <a:r>
              <a:t>Three numbers, never more. Each one gets a rule above it and one line of meaning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 Chart · orange cover, white interiors</a:t>
            </a:r>
          </a:p>
          <a:p>
            <a:endParaRPr/>
          </a:p>
          <a:p>
            <a:r>
              <a:t>Emphasis ladder, never a rainbow: focus #FD5000 for one series, #191919 comparison, #7A7268 context, #E7E0D6 field. Direct-label every series. On an orange slide the chart rides a white card so no mark sits on the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Comparison · orange cover, white interiors</a:t>
            </a:r>
          </a:p>
          <a:p>
            <a:endParaRPr/>
          </a:p>
          <a:p>
            <a:r>
              <a:t>Before on the muted panel, after on the highlighted card, so the eye lands on the after. Same number of lines each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 Timeline · orange cover, white interiors</a:t>
            </a:r>
          </a:p>
          <a:p>
            <a:endParaRPr/>
          </a:p>
          <a:p>
            <a:r>
              <a:t>Four milestones maximum. The last dot is filled to mark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Two-column · orange cover, white interiors</a:t>
            </a:r>
          </a:p>
          <a:p>
            <a:endParaRPr/>
          </a:p>
          <a:p>
            <a:r>
              <a:t>Two headings, two short paragraphs. Keep both columns a similar length so the slide stays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 Quote · orange cover, white interiors</a:t>
            </a:r>
          </a:p>
          <a:p>
            <a:endParaRPr/>
          </a:p>
          <a:p>
            <a:r>
              <a:t>The customer's own words, unedited. Two lines at most so it stays quotable. Real name,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 Logo wall · orange cover, white interiors</a:t>
            </a:r>
          </a:p>
          <a:p>
            <a:endParaRPr/>
          </a:p>
          <a:p>
            <a:r>
              <a:t>Customer marks on white tiles so each one keeps its own colour. Equal optical height, never recoloured.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Team · orange cover, white interiors</a:t>
            </a:r>
          </a:p>
          <a:p>
            <a:endParaRPr/>
          </a:p>
          <a:p>
            <a:r>
              <a:t>Drop a headshot into each placeholder. Square crop, same crop on every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16 Zuper Sense (dark) · orange cover, white interiors</a:t>
            </a:r>
          </a:p>
          <a:p>
            <a:endParaRPr/>
          </a:p>
          <a:p>
            <a:r>
              <a:t>Dark is reserved for Zuper Sense, never anything else. Orange-on-dark is #FF8B5A.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17 Zuper Glass · orange cover, white interiors</a:t>
            </a:r>
          </a:p>
          <a:p>
            <a:endParaRPr/>
          </a:p>
          <a:p>
            <a:r>
              <a:t>Reserved for Zuper Glass. All copy stays in the left column over the scrim so it never overlaps the glasses.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 Closing · orange cover, white interiors</a:t>
            </a:r>
          </a:p>
          <a:p>
            <a:endParaRPr/>
          </a:p>
          <a:p>
            <a:r>
              <a:t>Closes on the cover colour. One ask, then the concrete next steps with owners and dates when you have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217901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EYEBROW, AUDIENCE OR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60010"/>
            <a:ext cx="9525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0" b="1" spc="-195">
                <a:solidFill>
                  <a:srgbClr val="191919"/>
                </a:solidFill>
                <a:latin typeface="Aptos Display"/>
              </a:rPr>
              <a:t>Deck title goes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500" y="3561390"/>
            <a:ext cx="4191000" cy="952500"/>
          </a:xfrm>
          <a:prstGeom prst="roundRect">
            <a:avLst>
              <a:gd name="adj" fmla="val 9333"/>
            </a:avLst>
          </a:prstGeom>
          <a:solidFill>
            <a:srgbClr val="F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9500" y="3550610"/>
            <a:ext cx="39370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0" b="1" spc="-195" dirty="0">
                <a:solidFill>
                  <a:srgbClr val="FD5000"/>
                </a:solidFill>
                <a:latin typeface="Aptos Display"/>
              </a:rPr>
              <a:t>in two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2578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4B5563"/>
                </a:solidFill>
                <a:latin typeface="Aptos"/>
              </a:rPr>
              <a:t>One supporting line. Say the outcome, not the feature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6051100"/>
            <a:ext cx="3175000" cy="191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0" dirty="0">
                <a:solidFill>
                  <a:srgbClr val="888888"/>
                </a:solidFill>
                <a:latin typeface="Aptos"/>
              </a:rPr>
              <a:t>Presenter, role</a:t>
            </a:r>
          </a:p>
        </p:txBody>
      </p:sp>
      <p:pic>
        <p:nvPicPr>
          <p:cNvPr id="10" name="Picture 9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89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spc="-126">
                <a:solidFill>
                  <a:srgbClr val="FFFFFF"/>
                </a:solidFill>
                <a:latin typeface="Aptos Display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413000"/>
            <a:ext cx="5143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262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1000" y="260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FFFFFF"/>
                </a:solidFill>
                <a:latin typeface="Aptos Display"/>
              </a:rPr>
              <a:t>Section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000" y="295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4800" y="2413000"/>
            <a:ext cx="5143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4800" y="262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3300" y="260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FFFFFF"/>
                </a:solidFill>
                <a:latin typeface="Aptos Display"/>
              </a:rPr>
              <a:t>Section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3300" y="295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3683000"/>
            <a:ext cx="5143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500" y="389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1000" y="387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FFFFFF"/>
                </a:solidFill>
                <a:latin typeface="Aptos Display"/>
              </a:rPr>
              <a:t>Section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1000" y="422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4800" y="3683000"/>
            <a:ext cx="5143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4800" y="389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300" y="387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FFFFFF"/>
                </a:solidFill>
                <a:latin typeface="Aptos Display"/>
              </a:rPr>
              <a:t>Section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300" y="422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One line on what it answers</a:t>
            </a:r>
          </a:p>
        </p:txBody>
      </p:sp>
      <p:pic>
        <p:nvPicPr>
          <p:cNvPr id="21" name="Picture 20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zuper-breaker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0403">
                  <a:alpha val="16000"/>
                </a:srgbClr>
              </a:gs>
              <a:gs pos="34000">
                <a:srgbClr val="140403">
                  <a:alpha val="6000"/>
                </a:srgbClr>
              </a:gs>
              <a:gs pos="100000">
                <a:srgbClr val="140403">
                  <a:alpha val="8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350000" y="406400"/>
            <a:ext cx="495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88">
                <a:solidFill>
                  <a:srgbClr val="FFFFFF"/>
                </a:solidFill>
                <a:latin typeface="Aptos"/>
              </a:rPr>
              <a:t>ZUPER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11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 dirty="0">
                <a:solidFill>
                  <a:srgbClr val="FFD9C9"/>
                </a:solidFill>
                <a:latin typeface="Apto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41800"/>
            <a:ext cx="889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0" spc="-104" dirty="0">
                <a:solidFill>
                  <a:srgbClr val="FFFFFF"/>
                </a:solidFill>
                <a:latin typeface="Aptos Display"/>
              </a:rPr>
              <a:t>Section headline, </a:t>
            </a:r>
            <a:r>
              <a:rPr sz="5200" b="1" spc="-104" dirty="0">
                <a:solidFill>
                  <a:srgbClr val="FFFFFF"/>
                </a:solidFill>
                <a:latin typeface="Aptos Display"/>
              </a:rPr>
              <a:t>one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15000"/>
            <a:ext cx="825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ptos"/>
              </a:rPr>
              <a:t>One line of setup for the section that follows.</a:t>
            </a:r>
          </a:p>
        </p:txBody>
      </p:sp>
      <p:pic>
        <p:nvPicPr>
          <p:cNvPr id="8" name="Picture 7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2032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362200"/>
            <a:ext cx="4445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 spc="-700">
                <a:solidFill>
                  <a:srgbClr val="FFFFFF">
                    <a:alpha val="45000"/>
                  </a:srgbClr>
                </a:solidFill>
                <a:latin typeface="Aptos Display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381500"/>
            <a:ext cx="8255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spc="-131">
                <a:solidFill>
                  <a:srgbClr val="FFFFFF"/>
                </a:solidFill>
                <a:latin typeface="Aptos Display"/>
              </a:rPr>
              <a:t>Section title goes here</a:t>
            </a:r>
          </a:p>
        </p:txBody>
      </p:sp>
      <p:pic>
        <p:nvPicPr>
          <p:cNvPr id="6" name="Picture 5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20">
                <a:solidFill>
                  <a:srgbClr val="FFFFFF"/>
                </a:solidFill>
                <a:latin typeface="Aptos Display"/>
              </a:rPr>
              <a:t>Headline goes here, sentence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67000"/>
            <a:ext cx="762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FFFFFF"/>
                </a:solidFill>
                <a:latin typeface="Aptos"/>
              </a:rPr>
              <a:t>Optional supporting line. Two lines at most, then let the bullets carry the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8100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38100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Aptos"/>
              </a:rPr>
              <a:t>First point, one line, no wrapping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402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1402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Aptos"/>
              </a:rPr>
              <a:t>Second point, one line, no wrapping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4704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44704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Aptos"/>
              </a:rPr>
              <a:t>Third point, one line, no wrapping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8006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1900" y="48006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Aptos"/>
              </a:rPr>
              <a:t>Fourth point, stop at five</a:t>
            </a:r>
          </a:p>
        </p:txBody>
      </p:sp>
      <p:pic>
        <p:nvPicPr>
          <p:cNvPr id="14" name="Picture 13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2700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MODULE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600200"/>
            <a:ext cx="444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108">
                <a:solidFill>
                  <a:srgbClr val="FFFFFF"/>
                </a:solidFill>
                <a:latin typeface="Aptos Display"/>
              </a:rPr>
              <a:t>What this screen does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57500"/>
            <a:ext cx="4064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One line on the outcome, in the words the trade 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7465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37465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0386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0386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3307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43307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3500" y="1905000"/>
            <a:ext cx="4826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0" y="2159000"/>
            <a:ext cx="4318000" cy="25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199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723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247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0600" y="22987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Screen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0" y="2552700"/>
            <a:ext cx="431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7200" y="28194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5910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4600" y="278130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34600" y="283845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854B"/>
                </a:solidFill>
                <a:latin typeface="Aptos"/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0" y="3270250"/>
            <a:ext cx="4318000" cy="63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7200" y="353695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6075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7665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34600" y="349885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34600" y="355600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A56DB"/>
                </a:solidFill>
                <a:latin typeface="Aptos"/>
              </a:rPr>
              <a:t>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7500" y="3987800"/>
            <a:ext cx="4318000" cy="63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07200" y="42545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17830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9420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34600" y="421640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FE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34600" y="427355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A66A00"/>
                </a:solidFill>
                <a:latin typeface="Aptos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3500" y="50800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Aptos"/>
              </a:rPr>
              <a:t>Build the product as an HTML mock, never a screenshot of stock art</a:t>
            </a:r>
          </a:p>
        </p:txBody>
      </p:sp>
      <p:pic>
        <p:nvPicPr>
          <p:cNvPr id="37" name="Picture 36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905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260600"/>
            <a:ext cx="8890000" cy="215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7000" b="1" spc="-850">
                <a:solidFill>
                  <a:srgbClr val="FFFFFF"/>
                </a:solidFill>
                <a:latin typeface="Aptos Display"/>
              </a:rPr>
              <a:t>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45000"/>
            <a:ext cx="762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FFFFFF"/>
                </a:solidFill>
                <a:latin typeface="Aptos"/>
              </a:rPr>
              <a:t>What the number means, in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5143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Aptos"/>
              </a:rPr>
              <a:t>Source, period</a:t>
            </a:r>
          </a:p>
        </p:txBody>
      </p:sp>
      <p:pic>
        <p:nvPicPr>
          <p:cNvPr id="7" name="Picture 6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762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20">
                <a:solidFill>
                  <a:srgbClr val="FFFFFF"/>
                </a:solidFill>
                <a:latin typeface="Aptos Display"/>
              </a:rPr>
              <a:t>Headline that frames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302000"/>
            <a:ext cx="3225800" cy="381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FFFFF"/>
                </a:solidFill>
                <a:latin typeface="Aptos Display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measures, one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3100" y="3302000"/>
            <a:ext cx="3225800" cy="381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31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FFFFF"/>
                </a:solidFill>
                <a:latin typeface="Aptos Display"/>
              </a:rPr>
              <a:t>0 in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31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measures, one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3700" y="3302000"/>
            <a:ext cx="3225800" cy="381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37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FFFFF"/>
                </a:solidFill>
                <a:latin typeface="Aptos Display"/>
              </a:rPr>
              <a:t>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37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measures, one line</a:t>
            </a:r>
          </a:p>
        </p:txBody>
      </p:sp>
      <p:pic>
        <p:nvPicPr>
          <p:cNvPr id="14" name="Picture 13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DATA,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0922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spc="-102">
                <a:solidFill>
                  <a:srgbClr val="FFFFFF"/>
                </a:solidFill>
                <a:latin typeface="Aptos Display"/>
              </a:rPr>
              <a:t>The one takeaway from this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032000"/>
            <a:ext cx="102870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58900" y="25273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1100" y="24765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21100" y="2476500"/>
            <a:ext cx="4297680" cy="279400"/>
          </a:xfrm>
          <a:prstGeom prst="roundRect">
            <a:avLst>
              <a:gd name="adj" fmla="val 13636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78900" y="25273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8900" y="30226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100" y="29718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21100" y="2971800"/>
            <a:ext cx="3223260" cy="279400"/>
          </a:xfrm>
          <a:prstGeom prst="roundRect">
            <a:avLst>
              <a:gd name="adj" fmla="val 13636"/>
            </a:avLst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78900" y="30226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8900" y="35179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1100" y="34671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21100" y="3467100"/>
            <a:ext cx="2268220" cy="279400"/>
          </a:xfrm>
          <a:prstGeom prst="roundRect">
            <a:avLst>
              <a:gd name="adj" fmla="val 13636"/>
            </a:avLst>
          </a:prstGeom>
          <a:solidFill>
            <a:srgbClr val="7A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8900" y="35179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8900" y="40132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21100" y="39624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21100" y="3962400"/>
            <a:ext cx="1551940" cy="279400"/>
          </a:xfrm>
          <a:prstGeom prst="roundRect">
            <a:avLst>
              <a:gd name="adj" fmla="val 13636"/>
            </a:avLst>
          </a:prstGeom>
          <a:solidFill>
            <a:srgbClr val="7A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8900" y="40132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8900" y="46228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One series in focus orange, the rest in comparison ink and context grey. Direct-label every series. No gradient fills, no 3D, no dual axes.</a:t>
            </a:r>
          </a:p>
        </p:txBody>
      </p:sp>
      <p:pic>
        <p:nvPicPr>
          <p:cNvPr id="23" name="Picture 22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FFFFFF"/>
                </a:solidFill>
                <a:latin typeface="Aptos Display"/>
              </a:rPr>
              <a:t>The shift, in one headline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730500"/>
            <a:ext cx="49911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2730500"/>
            <a:ext cx="4991100" cy="29210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8100" y="3086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75000"/>
                  </a:srgbClr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8100" y="3619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8100" y="41021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8100" y="45847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0" y="3086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0" y="3619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1021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45847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pic>
        <p:nvPicPr>
          <p:cNvPr id="15" name="Picture 14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FFFFFF"/>
                </a:solidFill>
                <a:latin typeface="Aptos Display"/>
              </a:rPr>
              <a:t>From kickoff to live, in plain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251200"/>
            <a:ext cx="102870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25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Week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FFFFFF"/>
                </a:solidFill>
                <a:latin typeface="Aptos Display"/>
              </a:rPr>
              <a:t>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What happens, one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49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49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Week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49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FFFFFF"/>
                </a:solidFill>
                <a:latin typeface="Aptos Display"/>
              </a:rPr>
              <a:t>Milestone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49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What happens, one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73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73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Week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73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FFFFFF"/>
                </a:solidFill>
                <a:latin typeface="Aptos Display"/>
              </a:rPr>
              <a:t>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73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What happens, one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7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97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Month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FFFFFF"/>
                </a:solidFill>
                <a:latin typeface="Aptos Display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7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What happens, one line</a:t>
            </a:r>
          </a:p>
        </p:txBody>
      </p:sp>
      <p:pic>
        <p:nvPicPr>
          <p:cNvPr id="22" name="Picture 21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FFFFFF"/>
                </a:solidFill>
                <a:latin typeface="Aptos Display"/>
              </a:rPr>
              <a:t>Headline that sets up both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75000"/>
            <a:ext cx="47625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spc="-44">
                <a:solidFill>
                  <a:srgbClr val="FFFFFF"/>
                </a:solidFill>
                <a:latin typeface="Aptos Display"/>
              </a:rPr>
              <a:t>Column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3733800"/>
            <a:ext cx="4762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4013200"/>
            <a:ext cx="47625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Three or four lines of body copy. Write to "you", lead with the outcome, and use the words the trade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7625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spc="-44">
                <a:solidFill>
                  <a:srgbClr val="FFFFFF"/>
                </a:solidFill>
                <a:latin typeface="Aptos Display"/>
              </a:rPr>
              <a:t>Column heading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0" y="3733800"/>
            <a:ext cx="4762500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0" y="4013200"/>
            <a:ext cx="47625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Three or four lines of body copy. Keep both columns to a similar length so the slide stays balanced.</a:t>
            </a:r>
          </a:p>
        </p:txBody>
      </p:sp>
      <p:pic>
        <p:nvPicPr>
          <p:cNvPr id="11" name="Picture 10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397000"/>
            <a:ext cx="190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55000"/>
              </a:lnSpc>
            </a:pPr>
            <a:r>
              <a:rPr sz="15000" b="1">
                <a:solidFill>
                  <a:srgbClr val="FFFFFF">
                    <a:alpha val="40000"/>
                  </a:srgbClr>
                </a:solidFill>
                <a:latin typeface="Aptos Display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76500"/>
            <a:ext cx="889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-68">
                <a:solidFill>
                  <a:srgbClr val="FFFFFF"/>
                </a:solidFill>
                <a:latin typeface="Aptos Display"/>
              </a:rPr>
              <a:t>The customer's words, unedited, two lines at most so it stays quotable.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4749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D5000"/>
                </a:solidFill>
                <a:latin typeface="Aptos"/>
              </a:rPr>
              <a:t>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10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768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Role, company</a:t>
            </a:r>
          </a:p>
        </p:txBody>
      </p:sp>
      <p:pic>
        <p:nvPicPr>
          <p:cNvPr id="9" name="Picture 8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FFFFFF"/>
                </a:solidFill>
                <a:latin typeface="Aptos Display"/>
              </a:rPr>
              <a:t>Who already runs this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4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14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03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92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392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5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14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14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03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92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392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pic>
        <p:nvPicPr>
          <p:cNvPr id="21" name="Picture 20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>
                    <a:alpha val="85000"/>
                  </a:srgbClr>
                </a:solidFill>
                <a:latin typeface="Aptos"/>
              </a:rPr>
              <a:t>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FFFFFF"/>
                </a:solidFill>
                <a:latin typeface="Aptos Display"/>
              </a:rPr>
              <a:t>Who you'll be working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FFFFF">
              <a:alpha val="16000"/>
            </a:srgbClr>
          </a:solidFill>
          <a:ln w="254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 Display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4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FFFFF">
              <a:alpha val="16000"/>
            </a:srgbClr>
          </a:solidFill>
          <a:ln w="254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14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 Display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4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FFFFF">
              <a:alpha val="16000"/>
            </a:srgbClr>
          </a:solidFill>
          <a:ln w="254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03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 Display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FFFFF">
              <a:alpha val="16000"/>
            </a:srgbClr>
          </a:solidFill>
          <a:ln w="254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392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92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ptos Display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pic>
        <p:nvPicPr>
          <p:cNvPr id="21" name="Picture 20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zuper-sense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2460"/>
            <a:ext cx="12192000" cy="812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2500" y="1524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FF8B5A">
              <a:alpha val="14000"/>
            </a:srgbClr>
          </a:solidFill>
          <a:ln w="12700">
            <a:solidFill>
              <a:srgbClr val="FF8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500" y="1625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spc="131">
                <a:solidFill>
                  <a:srgbClr val="FF8B5A"/>
                </a:solidFill>
                <a:latin typeface="Aptos"/>
              </a:rPr>
              <a:t>ZUPER 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095500"/>
            <a:ext cx="9144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spc="-144">
                <a:solidFill>
                  <a:srgbClr val="FAFAFA"/>
                </a:solidFill>
                <a:latin typeface="Aptos Display"/>
              </a:rPr>
              <a:t>Headline for the Sense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619500"/>
            <a:ext cx="698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A1A1AA"/>
                </a:solidFill>
                <a:latin typeface="Aptos"/>
              </a:rPr>
              <a:t>One line on what Sense does in the background, in plain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11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82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67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53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pic>
        <p:nvPicPr>
          <p:cNvPr id="17" name="Picture 16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zuper-glass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5400" y="0"/>
            <a:ext cx="12702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0B14">
                  <a:alpha val="94000"/>
                </a:srgbClr>
              </a:gs>
              <a:gs pos="30000">
                <a:srgbClr val="070B14">
                  <a:alpha val="80000"/>
                </a:srgbClr>
              </a:gs>
              <a:gs pos="52000">
                <a:srgbClr val="070B14">
                  <a:alpha val="34000"/>
                </a:srgbClr>
              </a:gs>
              <a:gs pos="70000">
                <a:srgbClr val="070B1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" y="952500"/>
            <a:ext cx="17780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10541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spc="120">
                <a:solidFill>
                  <a:srgbClr val="FFFFFF"/>
                </a:solidFill>
                <a:latin typeface="Aptos"/>
              </a:rPr>
              <a:t>ZUPER GLASS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587500"/>
            <a:ext cx="5080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spc="-131">
                <a:solidFill>
                  <a:srgbClr val="FFFFFF"/>
                </a:solidFill>
                <a:latin typeface="Aptos Display"/>
              </a:rPr>
              <a:t>Headline for the Glass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86100"/>
            <a:ext cx="495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One line on what the crew does hands-free.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370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1900" y="39370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2291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900" y="42291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5212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900" y="45212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pic>
        <p:nvPicPr>
          <p:cNvPr id="15" name="Picture 14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286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spc="-165">
                <a:solidFill>
                  <a:srgbClr val="191919"/>
                </a:solidFill>
                <a:latin typeface="Aptos Display"/>
              </a:rPr>
              <a:t>The ask, in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D5000"/>
                </a:solidFill>
                <a:latin typeface="Aptos"/>
              </a:rP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D5000"/>
                </a:solidFill>
                <a:latin typeface="Aptos"/>
              </a:rPr>
              <a:t>STEP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D5000"/>
                </a:solidFill>
                <a:latin typeface="Aptos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6261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zuper.co</a:t>
            </a:r>
          </a:p>
        </p:txBody>
      </p:sp>
      <p:pic>
        <p:nvPicPr>
          <p:cNvPr id="13" name="Picture 12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2192079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/>
                </a:solidFill>
                <a:latin typeface="Aptos"/>
              </a:rPr>
              <a:t>EYEBROW, AUDIENCE OR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573079"/>
            <a:ext cx="9525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0" b="1" spc="-195">
                <a:solidFill>
                  <a:srgbClr val="FFFFFF"/>
                </a:solidFill>
                <a:latin typeface="Aptos Display"/>
              </a:rPr>
              <a:t>Deck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335079"/>
            <a:ext cx="95250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0" b="1" spc="-195" dirty="0">
                <a:solidFill>
                  <a:srgbClr val="FFFFFF"/>
                </a:solidFill>
                <a:latin typeface="Aptos Display"/>
              </a:rPr>
              <a:t>in two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566979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FFFFFF"/>
                </a:solidFill>
                <a:latin typeface="Aptos"/>
              </a:rPr>
              <a:t>One supporting line. Say the outcome, not the feature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6261100"/>
            <a:ext cx="3175000" cy="191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Presenter, role</a:t>
            </a:r>
          </a:p>
        </p:txBody>
      </p:sp>
      <p:pic>
        <p:nvPicPr>
          <p:cNvPr id="8" name="Picture 7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89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spc="-126">
                <a:solidFill>
                  <a:srgbClr val="191919"/>
                </a:solidFill>
                <a:latin typeface="Aptos Display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413000"/>
            <a:ext cx="5143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262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D500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1000" y="260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191919"/>
                </a:solidFill>
                <a:latin typeface="Aptos Display"/>
              </a:rPr>
              <a:t>Section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000" y="295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4800" y="2413000"/>
            <a:ext cx="5143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4800" y="262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D500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3300" y="260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191919"/>
                </a:solidFill>
                <a:latin typeface="Aptos Display"/>
              </a:rPr>
              <a:t>Section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3300" y="295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3683000"/>
            <a:ext cx="5143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500" y="389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D500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1000" y="387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191919"/>
                </a:solidFill>
                <a:latin typeface="Aptos Display"/>
              </a:rPr>
              <a:t>Section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1000" y="422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One line on what it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4800" y="3683000"/>
            <a:ext cx="5143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4800" y="3898900"/>
            <a:ext cx="508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D500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300" y="3873500"/>
            <a:ext cx="444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spc="-20">
                <a:solidFill>
                  <a:srgbClr val="191919"/>
                </a:solidFill>
                <a:latin typeface="Aptos Display"/>
              </a:rPr>
              <a:t>Section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300" y="4229100"/>
            <a:ext cx="444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One line on what it answers</a:t>
            </a:r>
          </a:p>
        </p:txBody>
      </p:sp>
      <p:pic>
        <p:nvPicPr>
          <p:cNvPr id="21" name="Picture 20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zuper-breaker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0403">
                  <a:alpha val="16000"/>
                </a:srgbClr>
              </a:gs>
              <a:gs pos="34000">
                <a:srgbClr val="140403">
                  <a:alpha val="6000"/>
                </a:srgbClr>
              </a:gs>
              <a:gs pos="100000">
                <a:srgbClr val="140403">
                  <a:alpha val="8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0" y="406400"/>
            <a:ext cx="495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88">
                <a:solidFill>
                  <a:srgbClr val="FFFFFF"/>
                </a:solidFill>
                <a:latin typeface="Aptos"/>
              </a:rPr>
              <a:t>ZUPER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11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D9C9"/>
                </a:solidFill>
                <a:latin typeface="Apto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41800"/>
            <a:ext cx="889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0" spc="-104">
                <a:solidFill>
                  <a:srgbClr val="FFFFFF"/>
                </a:solidFill>
                <a:latin typeface="Aptos Display"/>
              </a:rPr>
              <a:t>Section headline, </a:t>
            </a:r>
            <a:r>
              <a:rPr sz="5200" b="1" spc="-104">
                <a:solidFill>
                  <a:srgbClr val="FFFFFF"/>
                </a:solidFill>
                <a:latin typeface="Aptos Display"/>
              </a:rPr>
              <a:t>one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15000"/>
            <a:ext cx="825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ptos"/>
              </a:rPr>
              <a:t>One line of setup for the section that follows.</a:t>
            </a:r>
          </a:p>
        </p:txBody>
      </p:sp>
      <p:pic>
        <p:nvPicPr>
          <p:cNvPr id="8" name="Picture 7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2032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362200"/>
            <a:ext cx="4445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 spc="-700">
                <a:solidFill>
                  <a:srgbClr val="FD5000"/>
                </a:solidFill>
                <a:latin typeface="Aptos Display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381500"/>
            <a:ext cx="8255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spc="-131">
                <a:solidFill>
                  <a:srgbClr val="191919"/>
                </a:solidFill>
                <a:latin typeface="Aptos Display"/>
              </a:rPr>
              <a:t>Section title goes here</a:t>
            </a:r>
          </a:p>
        </p:txBody>
      </p:sp>
      <p:pic>
        <p:nvPicPr>
          <p:cNvPr id="6" name="Picture 5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20">
                <a:solidFill>
                  <a:srgbClr val="191919"/>
                </a:solidFill>
                <a:latin typeface="Aptos Display"/>
              </a:rPr>
              <a:t>Headline goes here, sentence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67000"/>
            <a:ext cx="762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B5563"/>
                </a:solidFill>
                <a:latin typeface="Aptos"/>
              </a:rPr>
              <a:t>Optional supporting line. Two lines at most, then let the bullets carry the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8100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38100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91919"/>
                </a:solidFill>
                <a:latin typeface="Aptos"/>
              </a:rPr>
              <a:t>First point, one line, no wrapping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402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1402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91919"/>
                </a:solidFill>
                <a:latin typeface="Aptos"/>
              </a:rPr>
              <a:t>Second point, one line, no wrapping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4704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44704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91919"/>
                </a:solidFill>
                <a:latin typeface="Aptos"/>
              </a:rPr>
              <a:t>Third point, one line, no wrapping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800600"/>
            <a:ext cx="25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1900" y="4800600"/>
            <a:ext cx="86106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91919"/>
                </a:solidFill>
                <a:latin typeface="Aptos"/>
              </a:rPr>
              <a:t>Fourth point, stop at five</a:t>
            </a:r>
          </a:p>
        </p:txBody>
      </p:sp>
      <p:pic>
        <p:nvPicPr>
          <p:cNvPr id="14" name="Picture 13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2700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MODULE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600200"/>
            <a:ext cx="444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108">
                <a:solidFill>
                  <a:srgbClr val="191919"/>
                </a:solidFill>
                <a:latin typeface="Aptos Display"/>
              </a:rPr>
              <a:t>What this screen does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57500"/>
            <a:ext cx="4064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One line on the outcome, in the words the trade 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7465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37465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91919"/>
                </a:solidFill>
                <a:latin typeface="Aptos"/>
              </a:rPr>
              <a:t>Capability,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0386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0386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91919"/>
                </a:solidFill>
                <a:latin typeface="Aptos"/>
              </a:rPr>
              <a:t>Capability,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3307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D5000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4330700"/>
            <a:ext cx="416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91919"/>
                </a:solidFill>
                <a:latin typeface="Aptos"/>
              </a:rPr>
              <a:t>Capability, one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3500" y="1905000"/>
            <a:ext cx="4826000" cy="3048000"/>
          </a:xfrm>
          <a:prstGeom prst="roundRect">
            <a:avLst>
              <a:gd name="adj" fmla="val 5000"/>
            </a:avLst>
          </a:prstGeom>
          <a:solidFill>
            <a:srgbClr val="F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0" y="2159000"/>
            <a:ext cx="4318000" cy="25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199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723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24700" y="2311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0600" y="22987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Screen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0" y="2552700"/>
            <a:ext cx="431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7200" y="28194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5910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4600" y="278130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34600" y="283845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854B"/>
                </a:solidFill>
                <a:latin typeface="Aptos"/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0" y="3270250"/>
            <a:ext cx="4318000" cy="63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7200" y="353695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6075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7665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34600" y="349885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34600" y="355600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A56DB"/>
                </a:solidFill>
                <a:latin typeface="Aptos"/>
              </a:rPr>
              <a:t>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7500" y="3987800"/>
            <a:ext cx="4318000" cy="63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07200" y="42545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ptos"/>
              </a:rPr>
              <a:t>00:00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178300"/>
            <a:ext cx="2159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919"/>
                </a:solidFill>
                <a:latin typeface="Aptos"/>
              </a:rPr>
              <a:t>Row title, real job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9420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tos"/>
              </a:rPr>
              <a:t>Secondary detail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34600" y="4216400"/>
            <a:ext cx="711200" cy="254000"/>
          </a:xfrm>
          <a:prstGeom prst="roundRect">
            <a:avLst>
              <a:gd name="adj" fmla="val 50000"/>
            </a:avLst>
          </a:prstGeom>
          <a:solidFill>
            <a:srgbClr val="FE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34600" y="4273550"/>
            <a:ext cx="71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A66A00"/>
                </a:solidFill>
                <a:latin typeface="Aptos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3500" y="50800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B5563"/>
                </a:solidFill>
                <a:latin typeface="Aptos"/>
              </a:rPr>
              <a:t>Build the product as an HTML mock, never a screenshot of stock art</a:t>
            </a:r>
          </a:p>
        </p:txBody>
      </p:sp>
      <p:pic>
        <p:nvPicPr>
          <p:cNvPr id="37" name="Picture 36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905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260600"/>
            <a:ext cx="8890000" cy="215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7000" b="1" spc="-850">
                <a:solidFill>
                  <a:srgbClr val="FD5000"/>
                </a:solidFill>
                <a:latin typeface="Aptos Display"/>
              </a:rPr>
              <a:t>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45000"/>
            <a:ext cx="762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91919"/>
                </a:solidFill>
                <a:latin typeface="Aptos"/>
              </a:rPr>
              <a:t>What the number means, in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5143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5563"/>
                </a:solidFill>
                <a:latin typeface="Aptos"/>
              </a:rPr>
              <a:t>Source, period</a:t>
            </a:r>
          </a:p>
        </p:txBody>
      </p:sp>
      <p:pic>
        <p:nvPicPr>
          <p:cNvPr id="7" name="Picture 6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762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20">
                <a:solidFill>
                  <a:srgbClr val="191919"/>
                </a:solidFill>
                <a:latin typeface="Aptos Display"/>
              </a:rPr>
              <a:t>Headline that frames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302000"/>
            <a:ext cx="3225800" cy="38100"/>
          </a:xfrm>
          <a:prstGeom prst="rect">
            <a:avLst/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D5000"/>
                </a:solidFill>
                <a:latin typeface="Aptos Display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it measures, one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3100" y="3302000"/>
            <a:ext cx="3225800" cy="38100"/>
          </a:xfrm>
          <a:prstGeom prst="rect">
            <a:avLst/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31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D5000"/>
                </a:solidFill>
                <a:latin typeface="Aptos Display"/>
              </a:rPr>
              <a:t>0 in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31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it measures, one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3700" y="3302000"/>
            <a:ext cx="3225800" cy="38100"/>
          </a:xfrm>
          <a:prstGeom prst="rect">
            <a:avLst/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3700" y="3556000"/>
            <a:ext cx="32258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spc="-280">
                <a:solidFill>
                  <a:srgbClr val="FD5000"/>
                </a:solidFill>
                <a:latin typeface="Aptos Display"/>
              </a:rPr>
              <a:t>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3700" y="4699000"/>
            <a:ext cx="241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What it measures, one line</a:t>
            </a:r>
          </a:p>
        </p:txBody>
      </p:sp>
      <p:pic>
        <p:nvPicPr>
          <p:cNvPr id="14" name="Picture 13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DATA,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0922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spc="-102">
                <a:solidFill>
                  <a:srgbClr val="191919"/>
                </a:solidFill>
                <a:latin typeface="Aptos Display"/>
              </a:rPr>
              <a:t>The one takeaway from this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908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21100" y="25400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21100" y="2540000"/>
            <a:ext cx="4297680" cy="279400"/>
          </a:xfrm>
          <a:prstGeom prst="roundRect">
            <a:avLst>
              <a:gd name="adj" fmla="val 13636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59900" y="25908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086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100" y="30353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21100" y="3035300"/>
            <a:ext cx="3223260" cy="279400"/>
          </a:xfrm>
          <a:prstGeom prst="roundRect">
            <a:avLst>
              <a:gd name="adj" fmla="val 13636"/>
            </a:avLst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59900" y="30861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5814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21100" y="35306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1100" y="3530600"/>
            <a:ext cx="2268220" cy="279400"/>
          </a:xfrm>
          <a:prstGeom prst="roundRect">
            <a:avLst>
              <a:gd name="adj" fmla="val 13636"/>
            </a:avLst>
          </a:prstGeom>
          <a:solidFill>
            <a:srgbClr val="7A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9900" y="35814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0767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Category label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1100" y="4025900"/>
            <a:ext cx="5969000" cy="279400"/>
          </a:xfrm>
          <a:prstGeom prst="roundRect">
            <a:avLst>
              <a:gd name="adj" fmla="val 13636"/>
            </a:avLst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21100" y="4025900"/>
            <a:ext cx="1551940" cy="279400"/>
          </a:xfrm>
          <a:prstGeom prst="roundRect">
            <a:avLst>
              <a:gd name="adj" fmla="val 13636"/>
            </a:avLst>
          </a:prstGeom>
          <a:solidFill>
            <a:srgbClr val="7A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9900" y="4076700"/>
            <a:ext cx="927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191919"/>
                </a:solidFill>
                <a:latin typeface="Aptos"/>
              </a:rPr>
              <a:t>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46863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One series in focus orange, the rest in comparison ink and context grey. Direct-label every series. No gradient fills, no 3D, no dual axes.</a:t>
            </a:r>
          </a:p>
        </p:txBody>
      </p:sp>
      <p:pic>
        <p:nvPicPr>
          <p:cNvPr id="22" name="Picture 21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191919"/>
                </a:solidFill>
                <a:latin typeface="Aptos Display"/>
              </a:rPr>
              <a:t>The shift, in one headline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730500"/>
            <a:ext cx="4991100" cy="2921000"/>
          </a:xfrm>
          <a:prstGeom prst="roundRect">
            <a:avLst>
              <a:gd name="adj" fmla="val 5217"/>
            </a:avLst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2730500"/>
            <a:ext cx="4991100" cy="2921000"/>
          </a:xfrm>
          <a:prstGeom prst="roundRect">
            <a:avLst>
              <a:gd name="adj" fmla="val 5217"/>
            </a:avLst>
          </a:prstGeom>
          <a:solidFill>
            <a:srgbClr val="F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8100" y="3086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4B5563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8100" y="3619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8100" y="41021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8100" y="45847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it costs them today,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0" y="3086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0" y="3619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1021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45847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91919"/>
                </a:solidFill>
                <a:latin typeface="Aptos"/>
              </a:rPr>
              <a:t>What changes, one line</a:t>
            </a:r>
          </a:p>
        </p:txBody>
      </p:sp>
      <p:pic>
        <p:nvPicPr>
          <p:cNvPr id="15" name="Picture 14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191919"/>
                </a:solidFill>
                <a:latin typeface="Aptos Display"/>
              </a:rPr>
              <a:t>From kickoff to live, in plain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251200"/>
            <a:ext cx="102870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25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Week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191919"/>
                </a:solidFill>
                <a:latin typeface="Aptos Display"/>
              </a:rPr>
              <a:t>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What happens, one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49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49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Week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49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191919"/>
                </a:solidFill>
                <a:latin typeface="Aptos Display"/>
              </a:rPr>
              <a:t>Milestone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49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What happens, one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73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73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Week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73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191919"/>
                </a:solidFill>
                <a:latin typeface="Aptos Display"/>
              </a:rPr>
              <a:t>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73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What happens, one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700" y="31750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9700" y="35814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Month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0" y="3886200"/>
            <a:ext cx="24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19">
                <a:solidFill>
                  <a:srgbClr val="191919"/>
                </a:solidFill>
                <a:latin typeface="Aptos Display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700" y="4292600"/>
            <a:ext cx="2413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What happens, one line</a:t>
            </a:r>
          </a:p>
        </p:txBody>
      </p:sp>
      <p:pic>
        <p:nvPicPr>
          <p:cNvPr id="22" name="Picture 21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191919"/>
                </a:solidFill>
                <a:latin typeface="Aptos Display"/>
              </a:rPr>
              <a:t>Headline that sets up both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75000"/>
            <a:ext cx="47625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spc="-44">
                <a:solidFill>
                  <a:srgbClr val="191919"/>
                </a:solidFill>
                <a:latin typeface="Aptos Display"/>
              </a:rPr>
              <a:t>Column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3733800"/>
            <a:ext cx="4762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4013200"/>
            <a:ext cx="47625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Three or four lines of body copy. Write to "you", lead with the outcome, and use the words the trade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7625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spc="-44">
                <a:solidFill>
                  <a:srgbClr val="191919"/>
                </a:solidFill>
                <a:latin typeface="Aptos Display"/>
              </a:rPr>
              <a:t>Column heading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0" y="3733800"/>
            <a:ext cx="4762500" cy="19050"/>
          </a:xfrm>
          <a:prstGeom prst="rect">
            <a:avLst/>
          </a:prstGeom>
          <a:solidFill>
            <a:srgbClr val="E7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0" y="4013200"/>
            <a:ext cx="47625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4B5563"/>
                </a:solidFill>
                <a:latin typeface="Aptos"/>
              </a:rPr>
              <a:t>Three or four lines of body copy. Keep both columns to a similar length so the slide stays balanced.</a:t>
            </a:r>
          </a:p>
        </p:txBody>
      </p:sp>
      <p:pic>
        <p:nvPicPr>
          <p:cNvPr id="11" name="Picture 10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397000"/>
            <a:ext cx="190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55000"/>
              </a:lnSpc>
            </a:pPr>
            <a:r>
              <a:rPr sz="15000" b="1">
                <a:solidFill>
                  <a:srgbClr val="FD5000"/>
                </a:solidFill>
                <a:latin typeface="Aptos Display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76500"/>
            <a:ext cx="889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-68">
                <a:solidFill>
                  <a:srgbClr val="191919"/>
                </a:solidFill>
                <a:latin typeface="Aptos Display"/>
              </a:rPr>
              <a:t>The customer's words, unedited, two lines at most so it stays quotable.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D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4749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10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919"/>
                </a:solidFill>
                <a:latin typeface="Aptos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768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Role, company</a:t>
            </a:r>
          </a:p>
        </p:txBody>
      </p:sp>
      <p:pic>
        <p:nvPicPr>
          <p:cNvPr id="9" name="Picture 8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191919"/>
                </a:solidFill>
                <a:latin typeface="Aptos Display"/>
              </a:rPr>
              <a:t>Who already runs this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4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14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03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9200" y="30480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39200" y="35306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5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14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14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03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9200" y="4419600"/>
            <a:ext cx="2400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39200" y="49022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Aptos"/>
              </a:rPr>
              <a:t>Customer logo</a:t>
            </a:r>
          </a:p>
        </p:txBody>
      </p:sp>
      <p:pic>
        <p:nvPicPr>
          <p:cNvPr id="21" name="Picture 20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889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D5000"/>
                </a:solidFill>
                <a:latin typeface="Aptos"/>
              </a:rPr>
              <a:t>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244600"/>
            <a:ext cx="8255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spc="-113">
                <a:solidFill>
                  <a:srgbClr val="191919"/>
                </a:solidFill>
                <a:latin typeface="Aptos Display"/>
              </a:rPr>
              <a:t>Who you'll be working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8F5F0"/>
          </a:solidFill>
          <a:ln w="25400">
            <a:solidFill>
              <a:srgbClr val="E7E0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4B5563"/>
                </a:solidFill>
                <a:latin typeface="Aptos"/>
              </a:rPr>
              <a:t>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919"/>
                </a:solidFill>
                <a:latin typeface="Aptos Display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4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8F5F0"/>
          </a:solidFill>
          <a:ln w="25400">
            <a:solidFill>
              <a:srgbClr val="E7E0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14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4B5563"/>
                </a:solidFill>
                <a:latin typeface="Aptos"/>
              </a:rPr>
              <a:t>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919"/>
                </a:solidFill>
                <a:latin typeface="Aptos Display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4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8F5F0"/>
          </a:solidFill>
          <a:ln w="25400">
            <a:solidFill>
              <a:srgbClr val="E7E0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03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Aptos"/>
              </a:rPr>
              <a:t>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919"/>
                </a:solidFill>
                <a:latin typeface="Aptos Display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984500"/>
            <a:ext cx="2044700" cy="2044700"/>
          </a:xfrm>
          <a:prstGeom prst="roundRect">
            <a:avLst>
              <a:gd name="adj" fmla="val 6211"/>
            </a:avLst>
          </a:prstGeom>
          <a:solidFill>
            <a:srgbClr val="F8F5F0"/>
          </a:solidFill>
          <a:ln w="25400">
            <a:solidFill>
              <a:srgbClr val="E7E0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39200" y="38735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Apto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9200" y="51943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919"/>
                </a:solidFill>
                <a:latin typeface="Aptos Display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54991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B5563"/>
                </a:solidFill>
                <a:latin typeface="Aptos"/>
              </a:rPr>
              <a:t>Role</a:t>
            </a:r>
          </a:p>
        </p:txBody>
      </p:sp>
      <p:pic>
        <p:nvPicPr>
          <p:cNvPr id="21" name="Picture 20" descr="zuper-logo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zuper-sense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2460"/>
            <a:ext cx="12192000" cy="812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2500" y="1524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FF8B5A">
              <a:alpha val="14000"/>
            </a:srgbClr>
          </a:solidFill>
          <a:ln w="12700">
            <a:solidFill>
              <a:srgbClr val="FF8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500" y="1625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spc="131">
                <a:solidFill>
                  <a:srgbClr val="FF8B5A"/>
                </a:solidFill>
                <a:latin typeface="Aptos"/>
              </a:rPr>
              <a:t>ZUPER 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095500"/>
            <a:ext cx="9144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spc="-144">
                <a:solidFill>
                  <a:srgbClr val="FAFAFA"/>
                </a:solidFill>
                <a:latin typeface="Aptos Display"/>
              </a:rPr>
              <a:t>Headline for the Sense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619500"/>
            <a:ext cx="698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A1A1AA"/>
                </a:solidFill>
                <a:latin typeface="Aptos"/>
              </a:rPr>
              <a:t>One line on what Sense does in the background, in plain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11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82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6700" y="4572000"/>
            <a:ext cx="3289300" cy="1270000"/>
          </a:xfrm>
          <a:prstGeom prst="roundRect">
            <a:avLst>
              <a:gd name="adj" fmla="val 9000"/>
            </a:avLst>
          </a:prstGeom>
          <a:solidFill>
            <a:srgbClr val="141417">
              <a:alpha val="72000"/>
            </a:srgbClr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5300" y="48006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B5A"/>
                </a:solidFill>
                <a:latin typeface="Aptos Display"/>
              </a:rPr>
              <a:t>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5156200"/>
            <a:ext cx="2832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A1A1AA"/>
                </a:solidFill>
                <a:latin typeface="Aptos"/>
              </a:rPr>
              <a:t>Two lines on what it does and what it saves.</a:t>
            </a:r>
          </a:p>
        </p:txBody>
      </p:sp>
      <p:pic>
        <p:nvPicPr>
          <p:cNvPr id="17" name="Picture 16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zuper-glass-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5400" y="0"/>
            <a:ext cx="12702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0B14">
                  <a:alpha val="94000"/>
                </a:srgbClr>
              </a:gs>
              <a:gs pos="30000">
                <a:srgbClr val="070B14">
                  <a:alpha val="80000"/>
                </a:srgbClr>
              </a:gs>
              <a:gs pos="52000">
                <a:srgbClr val="070B14">
                  <a:alpha val="34000"/>
                </a:srgbClr>
              </a:gs>
              <a:gs pos="70000">
                <a:srgbClr val="070B1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" y="952500"/>
            <a:ext cx="17780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10541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spc="120">
                <a:solidFill>
                  <a:srgbClr val="FFFFFF"/>
                </a:solidFill>
                <a:latin typeface="Aptos"/>
              </a:rPr>
              <a:t>ZUPER GLASS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587500"/>
            <a:ext cx="5080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spc="-131">
                <a:solidFill>
                  <a:srgbClr val="FFFFFF"/>
                </a:solidFill>
                <a:latin typeface="Aptos Display"/>
              </a:rPr>
              <a:t>Headline for the Glass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86100"/>
            <a:ext cx="4953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One line on what the crew does hands-free.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370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1900" y="39370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2291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900" y="42291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521200"/>
            <a:ext cx="254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B5A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900" y="4521200"/>
            <a:ext cx="444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Capability, one line</a:t>
            </a:r>
          </a:p>
        </p:txBody>
      </p:sp>
      <p:pic>
        <p:nvPicPr>
          <p:cNvPr id="15" name="Picture 14" descr="zuper-logo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0A06"/>
              </a:gs>
              <a:gs pos="30000">
                <a:srgbClr val="7E1C0B"/>
              </a:gs>
              <a:gs pos="64000">
                <a:srgbClr val="D43A14"/>
              </a:gs>
              <a:gs pos="100000">
                <a:srgbClr val="F2864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905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8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286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spc="-165">
                <a:solidFill>
                  <a:srgbClr val="FFFFFF"/>
                </a:solidFill>
                <a:latin typeface="Aptos Display"/>
              </a:rPr>
              <a:t>The ask, in one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FFFFF"/>
                </a:solidFill>
                <a:latin typeface="Aptos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FFFFF"/>
                </a:solidFill>
                <a:latin typeface="Aptos"/>
              </a:rPr>
              <a:t>STEP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0" y="40005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31">
                <a:solidFill>
                  <a:srgbClr val="FFFFFF"/>
                </a:solidFill>
                <a:latin typeface="Aptos"/>
              </a:rPr>
              <a:t>STEP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43307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Aptos"/>
              </a:rPr>
              <a:t>What happens next,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6261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Aptos"/>
              </a:rPr>
              <a:t>zuper.co</a:t>
            </a:r>
          </a:p>
        </p:txBody>
      </p:sp>
      <p:pic>
        <p:nvPicPr>
          <p:cNvPr id="12" name="Picture 11" descr="zuper-logo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800" y="596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2462</Words>
  <Application>Microsoft Macintosh PowerPoint</Application>
  <PresentationFormat>Widescreen</PresentationFormat>
  <Paragraphs>446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Zuper deck master</dc:title>
  <dc:subject/>
  <dc:creator>Zuper Design System</dc:creator>
  <cp:keywords/>
  <dc:description>Empty master deck. Two masters under New Slide: Zuper white cover (primary, orange interiors) and Zuper orange cover (secondary, white interiors), 18 layouts each. The 36 slides are those layouts with placeholder copy.</dc:description>
  <cp:lastModifiedBy>Karthikeyan M</cp:lastModifiedBy>
  <cp:revision>2</cp:revision>
  <dcterms:created xsi:type="dcterms:W3CDTF">2013-01-27T09:14:16Z</dcterms:created>
  <dcterms:modified xsi:type="dcterms:W3CDTF">2026-09-02T06:08:28Z</dcterms:modified>
  <cp:category/>
</cp:coreProperties>
</file>